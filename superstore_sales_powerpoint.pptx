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4"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0"/>
        <c:ser>
          <c:idx val="0"/>
          <c:order val="0"/>
          <c:tx>
            <c:strRef>
              <c:f>Sheet1!$B$1</c:f>
              <c:strCache>
                <c:ptCount val="1"/>
                <c:pt idx="0">
                  <c:v>Profit Margin %</c:v>
                </c:pt>
              </c:strCache>
            </c:strRef>
          </c:tx>
          <c:spPr>
            <a:solidFill>
              <a:srgbClr val="C0504D"/>
            </a:solidFill>
            <a:effectLst/>
          </c:spPr>
          <c:invertIfNegative val="0"/>
          <c:dPt>
            <c:idx val="0"/>
            <c:invertIfNegative val="0"/>
            <c:bubble3D val="0"/>
            <c:extLst>
              <c:ext xmlns:c16="http://schemas.microsoft.com/office/drawing/2014/chart" uri="{C3380CC4-5D6E-409C-BE32-E72D297353CC}">
                <c16:uniqueId val="{00000001-D7A2-49F0-BEB0-60056DAF022B}"/>
              </c:ext>
            </c:extLst>
          </c:dPt>
          <c:dPt>
            <c:idx val="1"/>
            <c:invertIfNegative val="0"/>
            <c:bubble3D val="0"/>
            <c:extLst>
              <c:ext xmlns:c16="http://schemas.microsoft.com/office/drawing/2014/chart" uri="{C3380CC4-5D6E-409C-BE32-E72D297353CC}">
                <c16:uniqueId val="{00000003-D7A2-49F0-BEB0-60056DAF022B}"/>
              </c:ext>
            </c:extLst>
          </c:dPt>
          <c:dPt>
            <c:idx val="2"/>
            <c:invertIfNegative val="0"/>
            <c:bubble3D val="0"/>
            <c:extLst>
              <c:ext xmlns:c16="http://schemas.microsoft.com/office/drawing/2014/chart" uri="{C3380CC4-5D6E-409C-BE32-E72D297353CC}">
                <c16:uniqueId val="{00000005-D7A2-49F0-BEB0-60056DAF022B}"/>
              </c:ext>
            </c:extLst>
          </c:dPt>
          <c:dPt>
            <c:idx val="3"/>
            <c:invertIfNegative val="0"/>
            <c:bubble3D val="0"/>
            <c:spPr>
              <a:solidFill>
                <a:srgbClr val="4472C4"/>
              </a:solidFill>
              <a:effectLst/>
            </c:spPr>
            <c:extLst>
              <c:ext xmlns:c16="http://schemas.microsoft.com/office/drawing/2014/chart" uri="{C3380CC4-5D6E-409C-BE32-E72D297353CC}">
                <c16:uniqueId val="{00000007-D7A2-49F0-BEB0-60056DAF022B}"/>
              </c:ext>
            </c:extLst>
          </c:dPt>
          <c:dPt>
            <c:idx val="4"/>
            <c:invertIfNegative val="0"/>
            <c:bubble3D val="0"/>
            <c:spPr>
              <a:solidFill>
                <a:srgbClr val="4472C4"/>
              </a:solidFill>
              <a:effectLst/>
            </c:spPr>
            <c:extLst>
              <c:ext xmlns:c16="http://schemas.microsoft.com/office/drawing/2014/chart" uri="{C3380CC4-5D6E-409C-BE32-E72D297353CC}">
                <c16:uniqueId val="{00000009-D7A2-49F0-BEB0-60056DAF022B}"/>
              </c:ext>
            </c:extLst>
          </c:dPt>
          <c:dPt>
            <c:idx val="5"/>
            <c:invertIfNegative val="0"/>
            <c:bubble3D val="0"/>
            <c:spPr>
              <a:solidFill>
                <a:srgbClr val="4472C4"/>
              </a:solidFill>
              <a:effectLst/>
            </c:spPr>
            <c:extLst>
              <c:ext xmlns:c16="http://schemas.microsoft.com/office/drawing/2014/chart" uri="{C3380CC4-5D6E-409C-BE32-E72D297353CC}">
                <c16:uniqueId val="{0000000B-D7A2-49F0-BEB0-60056DAF022B}"/>
              </c:ext>
            </c:extLst>
          </c:dPt>
          <c:dPt>
            <c:idx val="6"/>
            <c:invertIfNegative val="0"/>
            <c:bubble3D val="0"/>
            <c:spPr>
              <a:solidFill>
                <a:srgbClr val="4472C4"/>
              </a:solidFill>
              <a:effectLst/>
            </c:spPr>
            <c:extLst>
              <c:ext xmlns:c16="http://schemas.microsoft.com/office/drawing/2014/chart" uri="{C3380CC4-5D6E-409C-BE32-E72D297353CC}">
                <c16:uniqueId val="{0000000D-D7A2-49F0-BEB0-60056DAF022B}"/>
              </c:ext>
            </c:extLst>
          </c:dPt>
          <c:dPt>
            <c:idx val="7"/>
            <c:invertIfNegative val="0"/>
            <c:bubble3D val="0"/>
            <c:spPr>
              <a:solidFill>
                <a:srgbClr val="4472C4"/>
              </a:solidFill>
              <a:effectLst/>
            </c:spPr>
            <c:extLst>
              <c:ext xmlns:c16="http://schemas.microsoft.com/office/drawing/2014/chart" uri="{C3380CC4-5D6E-409C-BE32-E72D297353CC}">
                <c16:uniqueId val="{0000000F-D7A2-49F0-BEB0-60056DAF022B}"/>
              </c:ext>
            </c:extLst>
          </c:dPt>
          <c:dPt>
            <c:idx val="8"/>
            <c:invertIfNegative val="0"/>
            <c:bubble3D val="0"/>
            <c:spPr>
              <a:solidFill>
                <a:srgbClr val="4472C4"/>
              </a:solidFill>
              <a:effectLst/>
            </c:spPr>
            <c:extLst>
              <c:ext xmlns:c16="http://schemas.microsoft.com/office/drawing/2014/chart" uri="{C3380CC4-5D6E-409C-BE32-E72D297353CC}">
                <c16:uniqueId val="{00000011-D7A2-49F0-BEB0-60056DAF022B}"/>
              </c:ext>
            </c:extLst>
          </c:dPt>
          <c:dPt>
            <c:idx val="9"/>
            <c:invertIfNegative val="0"/>
            <c:bubble3D val="0"/>
            <c:spPr>
              <a:solidFill>
                <a:srgbClr val="4472C4"/>
              </a:solidFill>
              <a:effectLst/>
            </c:spPr>
            <c:extLst>
              <c:ext xmlns:c16="http://schemas.microsoft.com/office/drawing/2014/chart" uri="{C3380CC4-5D6E-409C-BE32-E72D297353CC}">
                <c16:uniqueId val="{00000013-D7A2-49F0-BEB0-60056DAF022B}"/>
              </c:ext>
            </c:extLst>
          </c:dPt>
          <c:dLbls>
            <c:numFmt formatCode="#,##0" sourceLinked="0"/>
            <c:spPr>
              <a:noFill/>
              <a:ln>
                <a:noFill/>
              </a:ln>
              <a:effectLst/>
            </c:spPr>
            <c:txPr>
              <a:bodyPr/>
              <a:lstStyle/>
              <a:p>
                <a:pPr>
                  <a:defRPr sz="9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Tables</c:v>
                </c:pt>
                <c:pt idx="1">
                  <c:v>Bookcases</c:v>
                </c:pt>
                <c:pt idx="2">
                  <c:v>Supplies</c:v>
                </c:pt>
                <c:pt idx="3">
                  <c:v>Machines</c:v>
                </c:pt>
                <c:pt idx="4">
                  <c:v>Chairs</c:v>
                </c:pt>
                <c:pt idx="5">
                  <c:v>Storage</c:v>
                </c:pt>
                <c:pt idx="6">
                  <c:v>Phones</c:v>
                </c:pt>
                <c:pt idx="7">
                  <c:v>Furnishings</c:v>
                </c:pt>
                <c:pt idx="8">
                  <c:v>Binders</c:v>
                </c:pt>
                <c:pt idx="9">
                  <c:v>Appliances</c:v>
                </c:pt>
              </c:strCache>
            </c:strRef>
          </c:cat>
          <c:val>
            <c:numRef>
              <c:f>Sheet1!$B$2:$B$11</c:f>
              <c:numCache>
                <c:formatCode>General</c:formatCode>
                <c:ptCount val="10"/>
                <c:pt idx="0">
                  <c:v>-8.56</c:v>
                </c:pt>
                <c:pt idx="1">
                  <c:v>-3.02</c:v>
                </c:pt>
                <c:pt idx="2">
                  <c:v>-2.5499999999999998</c:v>
                </c:pt>
                <c:pt idx="3">
                  <c:v>1.79</c:v>
                </c:pt>
                <c:pt idx="4">
                  <c:v>8.1</c:v>
                </c:pt>
                <c:pt idx="5">
                  <c:v>9.51</c:v>
                </c:pt>
                <c:pt idx="6">
                  <c:v>13.49</c:v>
                </c:pt>
                <c:pt idx="7">
                  <c:v>14.24</c:v>
                </c:pt>
                <c:pt idx="8">
                  <c:v>14.86</c:v>
                </c:pt>
                <c:pt idx="9">
                  <c:v>16.87</c:v>
                </c:pt>
              </c:numCache>
            </c:numRef>
          </c:val>
          <c:extLst>
            <c:ext xmlns:c16="http://schemas.microsoft.com/office/drawing/2014/chart" uri="{C3380CC4-5D6E-409C-BE32-E72D297353CC}">
              <c16:uniqueId val="{00000014-D7A2-49F0-BEB0-60056DAF022B}"/>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D9D9D9"/>
              </a:solidFill>
              <a:prstDash val="solid"/>
              <a:round/>
            </a:ln>
          </c:spPr>
        </c:majorGridlines>
        <c:title>
          <c:tx>
            <c:rich>
              <a:bodyPr/>
              <a:lstStyle/>
              <a:p>
                <a:pPr>
                  <a:defRPr b="0" i="0" u="none" strike="noStrike">
                    <a:solidFill>
                      <a:srgbClr val="000000"/>
                    </a:solidFill>
                    <a:latin typeface="Arial"/>
                  </a:defRPr>
                </a:pPr>
                <a:r>
                  <a:rPr lang="en-GB" b="0" i="0" u="none" strike="noStrike">
                    <a:solidFill>
                      <a:srgbClr val="000000"/>
                    </a:solidFill>
                    <a:latin typeface="Arial"/>
                  </a:rPr>
                  <a:t>Profit Margin (%)</a:t>
                </a:r>
              </a:p>
            </c:rich>
          </c:tx>
          <c:overlay val="0"/>
        </c:title>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Profit Margin %</c:v>
                </c:pt>
              </c:strCache>
            </c:strRef>
          </c:tx>
          <c:spPr>
            <a:solidFill>
              <a:srgbClr val="6B8E63"/>
            </a:solidFill>
            <a:effectLst/>
          </c:spPr>
          <c:invertIfNegative val="0"/>
          <c:dPt>
            <c:idx val="0"/>
            <c:invertIfNegative val="0"/>
            <c:bubble3D val="0"/>
            <c:extLst>
              <c:ext xmlns:c16="http://schemas.microsoft.com/office/drawing/2014/chart" uri="{C3380CC4-5D6E-409C-BE32-E72D297353CC}">
                <c16:uniqueId val="{00000001-56D9-4608-9797-6A65BC9220A8}"/>
              </c:ext>
            </c:extLst>
          </c:dPt>
          <c:dPt>
            <c:idx val="1"/>
            <c:invertIfNegative val="0"/>
            <c:bubble3D val="0"/>
            <c:extLst>
              <c:ext xmlns:c16="http://schemas.microsoft.com/office/drawing/2014/chart" uri="{C3380CC4-5D6E-409C-BE32-E72D297353CC}">
                <c16:uniqueId val="{00000003-56D9-4608-9797-6A65BC9220A8}"/>
              </c:ext>
            </c:extLst>
          </c:dPt>
          <c:dPt>
            <c:idx val="2"/>
            <c:invertIfNegative val="0"/>
            <c:bubble3D val="0"/>
            <c:spPr>
              <a:solidFill>
                <a:srgbClr val="C0504D"/>
              </a:solidFill>
              <a:effectLst/>
            </c:spPr>
            <c:extLst>
              <c:ext xmlns:c16="http://schemas.microsoft.com/office/drawing/2014/chart" uri="{C3380CC4-5D6E-409C-BE32-E72D297353CC}">
                <c16:uniqueId val="{00000005-56D9-4608-9797-6A65BC9220A8}"/>
              </c:ext>
            </c:extLst>
          </c:dPt>
          <c:dPt>
            <c:idx val="3"/>
            <c:invertIfNegative val="0"/>
            <c:bubble3D val="0"/>
            <c:spPr>
              <a:solidFill>
                <a:srgbClr val="C0504D"/>
              </a:solidFill>
              <a:effectLst/>
            </c:spPr>
            <c:extLst>
              <c:ext xmlns:c16="http://schemas.microsoft.com/office/drawing/2014/chart" uri="{C3380CC4-5D6E-409C-BE32-E72D297353CC}">
                <c16:uniqueId val="{00000007-56D9-4608-9797-6A65BC9220A8}"/>
              </c:ext>
            </c:extLst>
          </c:dPt>
          <c:dPt>
            <c:idx val="4"/>
            <c:invertIfNegative val="0"/>
            <c:bubble3D val="0"/>
            <c:spPr>
              <a:solidFill>
                <a:srgbClr val="C0504D"/>
              </a:solidFill>
              <a:effectLst/>
            </c:spPr>
            <c:extLst>
              <c:ext xmlns:c16="http://schemas.microsoft.com/office/drawing/2014/chart" uri="{C3380CC4-5D6E-409C-BE32-E72D297353CC}">
                <c16:uniqueId val="{00000009-56D9-4608-9797-6A65BC9220A8}"/>
              </c:ext>
            </c:extLst>
          </c:dPt>
          <c:dLbls>
            <c:numFmt formatCode="#,##0" sourceLinked="0"/>
            <c:spPr>
              <a:noFill/>
              <a:ln>
                <a:noFill/>
              </a:ln>
              <a:effectLst/>
            </c:spPr>
            <c:txPr>
              <a:bodyPr/>
              <a:lstStyle/>
              <a:p>
                <a:pPr>
                  <a:defRPr sz="10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0%</c:v>
                </c:pt>
                <c:pt idx="1">
                  <c:v>1-20%</c:v>
                </c:pt>
                <c:pt idx="2">
                  <c:v>21-40%</c:v>
                </c:pt>
                <c:pt idx="3">
                  <c:v>41-60%</c:v>
                </c:pt>
                <c:pt idx="4">
                  <c:v>61%+</c:v>
                </c:pt>
              </c:strCache>
            </c:strRef>
          </c:cat>
          <c:val>
            <c:numRef>
              <c:f>Sheet1!$B$2:$B$6</c:f>
              <c:numCache>
                <c:formatCode>General</c:formatCode>
                <c:ptCount val="5"/>
                <c:pt idx="0">
                  <c:v>29.51</c:v>
                </c:pt>
                <c:pt idx="1">
                  <c:v>11.91</c:v>
                </c:pt>
                <c:pt idx="2">
                  <c:v>-15.3</c:v>
                </c:pt>
                <c:pt idx="3">
                  <c:v>-40.74</c:v>
                </c:pt>
                <c:pt idx="4">
                  <c:v>-122.63</c:v>
                </c:pt>
              </c:numCache>
            </c:numRef>
          </c:val>
          <c:extLst>
            <c:ext xmlns:c16="http://schemas.microsoft.com/office/drawing/2014/chart" uri="{C3380CC4-5D6E-409C-BE32-E72D297353CC}">
              <c16:uniqueId val="{0000000A-56D9-4608-9797-6A65BC9220A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9D9D9"/>
              </a:solidFill>
              <a:prstDash val="solid"/>
              <a:round/>
            </a:ln>
          </c:spPr>
        </c:majorGridlines>
        <c:title>
          <c:tx>
            <c:rich>
              <a:bodyPr/>
              <a:lstStyle/>
              <a:p>
                <a:pPr>
                  <a:defRPr b="0" i="0" u="none" strike="noStrike">
                    <a:solidFill>
                      <a:srgbClr val="000000"/>
                    </a:solidFill>
                    <a:latin typeface="Arial"/>
                  </a:defRPr>
                </a:pPr>
                <a:r>
                  <a:rPr lang="en-GB" b="0" i="0" u="none" strike="noStrike">
                    <a:solidFill>
                      <a:srgbClr val="000000"/>
                    </a:solidFill>
                    <a:latin typeface="Arial"/>
                  </a:rPr>
                  <a:t>Profit Margin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0"/>
        <c:ser>
          <c:idx val="0"/>
          <c:order val="0"/>
          <c:tx>
            <c:strRef>
              <c:f>Sheet1!$B$1</c:f>
              <c:strCache>
                <c:ptCount val="1"/>
                <c:pt idx="0">
                  <c:v>Profit Margin %</c:v>
                </c:pt>
              </c:strCache>
            </c:strRef>
          </c:tx>
          <c:spPr>
            <a:solidFill>
              <a:srgbClr val="C0504D"/>
            </a:solidFill>
            <a:effectLst/>
          </c:spPr>
          <c:invertIfNegative val="0"/>
          <c:dPt>
            <c:idx val="0"/>
            <c:invertIfNegative val="0"/>
            <c:bubble3D val="0"/>
            <c:spPr>
              <a:solidFill>
                <a:schemeClr val="accent5">
                  <a:lumMod val="75000"/>
                </a:schemeClr>
              </a:solidFill>
              <a:effectLst/>
            </c:spPr>
            <c:extLst>
              <c:ext xmlns:c16="http://schemas.microsoft.com/office/drawing/2014/chart" uri="{C3380CC4-5D6E-409C-BE32-E72D297353CC}">
                <c16:uniqueId val="{00000001-51B2-4513-84BD-054B35FBD776}"/>
              </c:ext>
            </c:extLst>
          </c:dPt>
          <c:dPt>
            <c:idx val="1"/>
            <c:invertIfNegative val="0"/>
            <c:bubble3D val="0"/>
            <c:spPr>
              <a:solidFill>
                <a:srgbClr val="4472C4"/>
              </a:solidFill>
              <a:effectLst/>
            </c:spPr>
            <c:extLst>
              <c:ext xmlns:c16="http://schemas.microsoft.com/office/drawing/2014/chart" uri="{C3380CC4-5D6E-409C-BE32-E72D297353CC}">
                <c16:uniqueId val="{00000003-51B2-4513-84BD-054B35FBD776}"/>
              </c:ext>
            </c:extLst>
          </c:dPt>
          <c:dPt>
            <c:idx val="2"/>
            <c:invertIfNegative val="0"/>
            <c:bubble3D val="0"/>
            <c:spPr>
              <a:solidFill>
                <a:srgbClr val="4472C4"/>
              </a:solidFill>
              <a:effectLst/>
            </c:spPr>
            <c:extLst>
              <c:ext xmlns:c16="http://schemas.microsoft.com/office/drawing/2014/chart" uri="{C3380CC4-5D6E-409C-BE32-E72D297353CC}">
                <c16:uniqueId val="{00000005-51B2-4513-84BD-054B35FBD776}"/>
              </c:ext>
            </c:extLst>
          </c:dPt>
          <c:dPt>
            <c:idx val="3"/>
            <c:invertIfNegative val="0"/>
            <c:bubble3D val="0"/>
            <c:spPr>
              <a:solidFill>
                <a:srgbClr val="4472C4"/>
              </a:solidFill>
              <a:effectLst/>
            </c:spPr>
            <c:extLst>
              <c:ext xmlns:c16="http://schemas.microsoft.com/office/drawing/2014/chart" uri="{C3380CC4-5D6E-409C-BE32-E72D297353CC}">
                <c16:uniqueId val="{00000007-51B2-4513-84BD-054B35FBD776}"/>
              </c:ext>
            </c:extLst>
          </c:dPt>
          <c:dLbls>
            <c:numFmt formatCode="#,##0" sourceLinked="0"/>
            <c:spPr>
              <a:noFill/>
              <a:ln>
                <a:noFill/>
              </a:ln>
              <a:effectLst/>
            </c:spPr>
            <c:txPr>
              <a:bodyPr/>
              <a:lstStyle/>
              <a:p>
                <a:pPr>
                  <a:defRPr sz="11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Central</c:v>
                </c:pt>
                <c:pt idx="1">
                  <c:v>South</c:v>
                </c:pt>
                <c:pt idx="2">
                  <c:v>East</c:v>
                </c:pt>
                <c:pt idx="3">
                  <c:v>West</c:v>
                </c:pt>
              </c:strCache>
            </c:strRef>
          </c:cat>
          <c:val>
            <c:numRef>
              <c:f>Sheet1!$B$2:$B$5</c:f>
              <c:numCache>
                <c:formatCode>General</c:formatCode>
                <c:ptCount val="4"/>
                <c:pt idx="0">
                  <c:v>7.92</c:v>
                </c:pt>
                <c:pt idx="1">
                  <c:v>11.93</c:v>
                </c:pt>
                <c:pt idx="2">
                  <c:v>13.48</c:v>
                </c:pt>
                <c:pt idx="3">
                  <c:v>14.94</c:v>
                </c:pt>
              </c:numCache>
            </c:numRef>
          </c:val>
          <c:extLst>
            <c:ext xmlns:c16="http://schemas.microsoft.com/office/drawing/2014/chart" uri="{C3380CC4-5D6E-409C-BE32-E72D297353CC}">
              <c16:uniqueId val="{00000008-51B2-4513-84BD-054B35FBD776}"/>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D9D9D9"/>
              </a:solidFill>
              <a:prstDash val="solid"/>
              <a:round/>
            </a:ln>
          </c:spPr>
        </c:majorGridlines>
        <c:title>
          <c:tx>
            <c:rich>
              <a:bodyPr/>
              <a:lstStyle/>
              <a:p>
                <a:pPr>
                  <a:defRPr b="0" i="0" u="none" strike="noStrike">
                    <a:solidFill>
                      <a:srgbClr val="000000"/>
                    </a:solidFill>
                    <a:latin typeface="Arial"/>
                  </a:defRPr>
                </a:pPr>
                <a:r>
                  <a:rPr lang="en-GB" b="0" i="0" u="none" strike="noStrike">
                    <a:solidFill>
                      <a:srgbClr val="000000"/>
                    </a:solidFill>
                    <a:latin typeface="Arial"/>
                  </a:rPr>
                  <a:t>Profit Margin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58692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FFFFFF"/>
          </a:solidFill>
          <a:ln/>
        </p:spPr>
        <p:txBody>
          <a:bodyPr/>
          <a:lstStyle/>
          <a:p>
            <a:endParaRPr lang="en-GB"/>
          </a:p>
        </p:txBody>
      </p:sp>
      <p:sp>
        <p:nvSpPr>
          <p:cNvPr id="3" name="Shape 1"/>
          <p:cNvSpPr/>
          <p:nvPr/>
        </p:nvSpPr>
        <p:spPr>
          <a:xfrm>
            <a:off x="548640" y="2468880"/>
            <a:ext cx="2926080" cy="0"/>
          </a:xfrm>
          <a:prstGeom prst="line">
            <a:avLst/>
          </a:prstGeom>
          <a:noFill/>
          <a:ln w="38100">
            <a:solidFill>
              <a:srgbClr val="4472C4"/>
            </a:solidFill>
            <a:prstDash val="solid"/>
          </a:ln>
        </p:spPr>
        <p:txBody>
          <a:bodyPr/>
          <a:lstStyle/>
          <a:p>
            <a:endParaRPr lang="en-GB"/>
          </a:p>
        </p:txBody>
      </p:sp>
      <p:sp>
        <p:nvSpPr>
          <p:cNvPr id="4" name="Text 2"/>
          <p:cNvSpPr/>
          <p:nvPr/>
        </p:nvSpPr>
        <p:spPr>
          <a:xfrm>
            <a:off x="548640" y="2651760"/>
            <a:ext cx="10058400" cy="822960"/>
          </a:xfrm>
          <a:prstGeom prst="rect">
            <a:avLst/>
          </a:prstGeom>
          <a:noFill/>
          <a:ln/>
        </p:spPr>
        <p:txBody>
          <a:bodyPr wrap="square" rtlCol="0" anchor="ctr"/>
          <a:lstStyle/>
          <a:p>
            <a:pPr marL="0" indent="0">
              <a:buNone/>
            </a:pPr>
            <a:r>
              <a:rPr lang="en-US" sz="3400" b="1" dirty="0">
                <a:solidFill>
                  <a:srgbClr val="1F3864"/>
                </a:solidFill>
                <a:latin typeface="Calibri" pitchFamily="34" charset="0"/>
                <a:ea typeface="Calibri" pitchFamily="34" charset="-122"/>
                <a:cs typeface="Calibri" pitchFamily="34" charset="-120"/>
              </a:rPr>
              <a:t>Superstore Sales Analysis</a:t>
            </a:r>
            <a:endParaRPr lang="en-US" sz="3400" dirty="0"/>
          </a:p>
        </p:txBody>
      </p:sp>
      <p:sp>
        <p:nvSpPr>
          <p:cNvPr id="5" name="Text 3"/>
          <p:cNvSpPr/>
          <p:nvPr/>
        </p:nvSpPr>
        <p:spPr>
          <a:xfrm>
            <a:off x="548640" y="3429000"/>
            <a:ext cx="10058400" cy="548640"/>
          </a:xfrm>
          <a:prstGeom prst="rect">
            <a:avLst/>
          </a:prstGeom>
          <a:noFill/>
          <a:ln/>
        </p:spPr>
        <p:txBody>
          <a:bodyPr wrap="square" rtlCol="0" anchor="ctr"/>
          <a:lstStyle/>
          <a:p>
            <a:pPr marL="0" indent="0">
              <a:buNone/>
            </a:pPr>
            <a:r>
              <a:rPr lang="en-US" sz="1800" dirty="0"/>
              <a:t>Where sales convert into profit, and where they quietly don't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320040"/>
            <a:ext cx="11247120" cy="822960"/>
          </a:xfrm>
          <a:prstGeom prst="rect">
            <a:avLst/>
          </a:prstGeom>
          <a:noFill/>
          <a:ln/>
        </p:spPr>
        <p:txBody>
          <a:bodyPr wrap="square" rtlCol="0" anchor="t"/>
          <a:lstStyle/>
          <a:p>
            <a:pPr marL="0" indent="0">
              <a:buNone/>
            </a:pPr>
            <a:r>
              <a:rPr lang="en-US" sz="2200" b="1" dirty="0">
                <a:solidFill>
                  <a:srgbClr val="1F3864"/>
                </a:solidFill>
                <a:latin typeface="Calibri" pitchFamily="34" charset="0"/>
                <a:ea typeface="Calibri" pitchFamily="34" charset="-122"/>
                <a:cs typeface="Calibri" pitchFamily="34" charset="-120"/>
              </a:rPr>
              <a:t>Tables, Bookcases and Supplies are the only sub-categories losing money outright</a:t>
            </a:r>
            <a:endParaRPr lang="en-US" sz="2200" dirty="0"/>
          </a:p>
        </p:txBody>
      </p:sp>
      <p:sp>
        <p:nvSpPr>
          <p:cNvPr id="3" name="Shape 1"/>
          <p:cNvSpPr/>
          <p:nvPr/>
        </p:nvSpPr>
        <p:spPr>
          <a:xfrm>
            <a:off x="457200" y="1051560"/>
            <a:ext cx="11247120" cy="0"/>
          </a:xfrm>
          <a:prstGeom prst="line">
            <a:avLst/>
          </a:prstGeom>
          <a:noFill/>
          <a:ln w="25400">
            <a:solidFill>
              <a:srgbClr val="4472C4"/>
            </a:solidFill>
            <a:prstDash val="solid"/>
          </a:ln>
        </p:spPr>
        <p:txBody>
          <a:bodyPr/>
          <a:lstStyle/>
          <a:p>
            <a:endParaRPr lang="en-GB"/>
          </a:p>
        </p:txBody>
      </p:sp>
      <p:sp>
        <p:nvSpPr>
          <p:cNvPr id="4" name="Text 2"/>
          <p:cNvSpPr/>
          <p:nvPr/>
        </p:nvSpPr>
        <p:spPr>
          <a:xfrm>
            <a:off x="11658600" y="6537960"/>
            <a:ext cx="365760" cy="274320"/>
          </a:xfrm>
          <a:prstGeom prst="rect">
            <a:avLst/>
          </a:prstGeom>
          <a:noFill/>
          <a:ln/>
        </p:spPr>
        <p:txBody>
          <a:bodyPr wrap="square" rtlCol="0" anchor="ctr"/>
          <a:lstStyle/>
          <a:p>
            <a:pPr marL="0" indent="0" algn="r">
              <a:buNone/>
            </a:pPr>
            <a:r>
              <a:rPr lang="en-US" sz="1000" dirty="0">
                <a:solidFill>
                  <a:srgbClr val="7F7F7F"/>
                </a:solidFill>
              </a:rPr>
              <a:t>2</a:t>
            </a:r>
            <a:endParaRPr lang="en-US" sz="1000" dirty="0"/>
          </a:p>
        </p:txBody>
      </p:sp>
      <p:graphicFrame>
        <p:nvGraphicFramePr>
          <p:cNvPr id="6" name="Chart 0"/>
          <p:cNvGraphicFramePr/>
          <p:nvPr/>
        </p:nvGraphicFramePr>
        <p:xfrm>
          <a:off x="457200" y="1280160"/>
          <a:ext cx="6949440" cy="502920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7635240" y="1463040"/>
            <a:ext cx="4069080" cy="3200400"/>
          </a:xfrm>
          <a:prstGeom prst="rect">
            <a:avLst/>
          </a:prstGeom>
          <a:noFill/>
          <a:ln/>
        </p:spPr>
        <p:txBody>
          <a:bodyPr wrap="square" rtlCol="0" anchor="t"/>
          <a:lstStyle/>
          <a:p>
            <a:pPr marL="0" indent="0">
              <a:lnSpc>
                <a:spcPct val="120000"/>
              </a:lnSpc>
              <a:buNone/>
            </a:pPr>
            <a:r>
              <a:rPr lang="en-US" sz="1300" b="1" dirty="0">
                <a:solidFill>
                  <a:srgbClr val="1F3864"/>
                </a:solidFill>
                <a:latin typeface="Calibri" pitchFamily="34" charset="0"/>
                <a:ea typeface="Calibri" pitchFamily="34" charset="-122"/>
                <a:cs typeface="Calibri" pitchFamily="34" charset="-120"/>
              </a:rPr>
              <a:t>Tables (-8.56%), Bookcases (-3.02%) and Supplies             (-2.55%) are the only three sub-categories with negative overall profit margin.
</a:t>
            </a:r>
            <a:r>
              <a:rPr lang="en-US" sz="1300" dirty="0">
                <a:latin typeface="Calibri" pitchFamily="34" charset="0"/>
                <a:ea typeface="Calibri" pitchFamily="34" charset="-122"/>
                <a:cs typeface="Calibri" pitchFamily="34" charset="-120"/>
              </a:rPr>
              <a:t>Tables and Bookcases also rank among Furniture's best-selling products by revenue, so higher sales volume in these two is actively increasing losses, not offsetting them. Supplies sits inside Office Supplies, a category that looks healthy overall, so its loss is easy to miss without breaking down to sub-category level.</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320040"/>
            <a:ext cx="11247120" cy="822960"/>
          </a:xfrm>
          <a:prstGeom prst="rect">
            <a:avLst/>
          </a:prstGeom>
          <a:noFill/>
          <a:ln/>
        </p:spPr>
        <p:txBody>
          <a:bodyPr wrap="square" rtlCol="0" anchor="t"/>
          <a:lstStyle/>
          <a:p>
            <a:pPr marL="0" indent="0">
              <a:buNone/>
            </a:pPr>
            <a:r>
              <a:rPr lang="en-US" sz="2200" b="1" dirty="0">
                <a:solidFill>
                  <a:srgbClr val="1F3864"/>
                </a:solidFill>
                <a:latin typeface="Calibri" pitchFamily="34" charset="0"/>
                <a:ea typeface="Calibri" pitchFamily="34" charset="-122"/>
                <a:cs typeface="Calibri" pitchFamily="34" charset="-120"/>
              </a:rPr>
              <a:t>Profit margin turns negative once discount passes roughly 20%</a:t>
            </a:r>
            <a:endParaRPr lang="en-US" sz="2200" dirty="0"/>
          </a:p>
        </p:txBody>
      </p:sp>
      <p:sp>
        <p:nvSpPr>
          <p:cNvPr id="3" name="Shape 1"/>
          <p:cNvSpPr/>
          <p:nvPr/>
        </p:nvSpPr>
        <p:spPr>
          <a:xfrm>
            <a:off x="457200" y="1051560"/>
            <a:ext cx="11247120" cy="0"/>
          </a:xfrm>
          <a:prstGeom prst="line">
            <a:avLst/>
          </a:prstGeom>
          <a:noFill/>
          <a:ln w="25400">
            <a:solidFill>
              <a:srgbClr val="4472C4"/>
            </a:solidFill>
            <a:prstDash val="solid"/>
          </a:ln>
        </p:spPr>
        <p:txBody>
          <a:bodyPr/>
          <a:lstStyle/>
          <a:p>
            <a:endParaRPr lang="en-GB"/>
          </a:p>
        </p:txBody>
      </p:sp>
      <p:sp>
        <p:nvSpPr>
          <p:cNvPr id="4" name="Text 2"/>
          <p:cNvSpPr/>
          <p:nvPr/>
        </p:nvSpPr>
        <p:spPr>
          <a:xfrm>
            <a:off x="11658600" y="6537960"/>
            <a:ext cx="365760" cy="274320"/>
          </a:xfrm>
          <a:prstGeom prst="rect">
            <a:avLst/>
          </a:prstGeom>
          <a:noFill/>
          <a:ln/>
        </p:spPr>
        <p:txBody>
          <a:bodyPr wrap="square" rtlCol="0" anchor="ctr"/>
          <a:lstStyle/>
          <a:p>
            <a:pPr marL="0" indent="0" algn="r">
              <a:buNone/>
            </a:pPr>
            <a:r>
              <a:rPr lang="en-US" sz="1000" dirty="0">
                <a:solidFill>
                  <a:srgbClr val="7F7F7F"/>
                </a:solidFill>
              </a:rPr>
              <a:t>3</a:t>
            </a:r>
            <a:endParaRPr lang="en-US" sz="1000" dirty="0"/>
          </a:p>
        </p:txBody>
      </p:sp>
      <p:graphicFrame>
        <p:nvGraphicFramePr>
          <p:cNvPr id="6" name="Chart 0"/>
          <p:cNvGraphicFramePr/>
          <p:nvPr/>
        </p:nvGraphicFramePr>
        <p:xfrm>
          <a:off x="457200" y="1371600"/>
          <a:ext cx="713232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7818120" y="1554480"/>
            <a:ext cx="3886200" cy="3657600"/>
          </a:xfrm>
          <a:prstGeom prst="rect">
            <a:avLst/>
          </a:prstGeom>
          <a:noFill/>
          <a:ln/>
        </p:spPr>
        <p:txBody>
          <a:bodyPr wrap="square" rtlCol="0" anchor="t"/>
          <a:lstStyle/>
          <a:p>
            <a:pPr marL="0" indent="0">
              <a:lnSpc>
                <a:spcPct val="120000"/>
              </a:lnSpc>
              <a:buNone/>
            </a:pPr>
            <a:r>
              <a:rPr lang="en-US" sz="1300" dirty="0">
                <a:latin typeface="Calibri" pitchFamily="34" charset="0"/>
                <a:ea typeface="Calibri" pitchFamily="34" charset="-122"/>
                <a:cs typeface="Calibri" pitchFamily="34" charset="-120"/>
              </a:rPr>
              <a:t>At no discount, margin sits at 29.5%.
It turns negative from 21-40% discount, and reaches    -122.6% at 61%+, meaning the store loses more than the sale is worth.</a:t>
            </a:r>
            <a:r>
              <a:rPr lang="en-US" sz="1300" dirty="0">
                <a:solidFill>
                  <a:srgbClr val="7F7F7F"/>
                </a:solidFill>
                <a:latin typeface="Calibri" pitchFamily="34" charset="0"/>
                <a:ea typeface="Calibri" pitchFamily="34" charset="-122"/>
                <a:cs typeface="Calibri" pitchFamily="34" charset="-120"/>
              </a:rPr>
              <a:t>
</a:t>
            </a:r>
            <a:r>
              <a:rPr lang="en-US" sz="1300" b="1" dirty="0">
                <a:solidFill>
                  <a:srgbClr val="1F3864"/>
                </a:solidFill>
                <a:latin typeface="Calibri" pitchFamily="34" charset="0"/>
                <a:ea typeface="Calibri" pitchFamily="34" charset="-122"/>
                <a:cs typeface="Calibri" pitchFamily="34" charset="-120"/>
              </a:rPr>
              <a:t>A 20% discount cap is the clearest single policy lever available in this data.</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320040"/>
            <a:ext cx="11247120" cy="822960"/>
          </a:xfrm>
          <a:prstGeom prst="rect">
            <a:avLst/>
          </a:prstGeom>
          <a:noFill/>
          <a:ln/>
        </p:spPr>
        <p:txBody>
          <a:bodyPr wrap="square" rtlCol="0" anchor="t"/>
          <a:lstStyle/>
          <a:p>
            <a:pPr marL="0" indent="0">
              <a:buNone/>
            </a:pPr>
            <a:r>
              <a:rPr lang="en-US" sz="2200" b="1" dirty="0">
                <a:solidFill>
                  <a:srgbClr val="1F3864"/>
                </a:solidFill>
                <a:latin typeface="Calibri" pitchFamily="34" charset="0"/>
                <a:ea typeface="Calibri" pitchFamily="34" charset="-122"/>
                <a:cs typeface="Calibri" pitchFamily="34" charset="-120"/>
              </a:rPr>
              <a:t>Discount alone doesn't fully explain why some products lose money</a:t>
            </a:r>
            <a:endParaRPr lang="en-US" sz="2200" dirty="0"/>
          </a:p>
        </p:txBody>
      </p:sp>
      <p:sp>
        <p:nvSpPr>
          <p:cNvPr id="3" name="Shape 1"/>
          <p:cNvSpPr/>
          <p:nvPr/>
        </p:nvSpPr>
        <p:spPr>
          <a:xfrm>
            <a:off x="457200" y="1051560"/>
            <a:ext cx="11247120" cy="0"/>
          </a:xfrm>
          <a:prstGeom prst="line">
            <a:avLst/>
          </a:prstGeom>
          <a:noFill/>
          <a:ln w="25400">
            <a:solidFill>
              <a:srgbClr val="4472C4"/>
            </a:solidFill>
            <a:prstDash val="solid"/>
          </a:ln>
        </p:spPr>
        <p:txBody>
          <a:bodyPr/>
          <a:lstStyle/>
          <a:p>
            <a:endParaRPr lang="en-GB"/>
          </a:p>
        </p:txBody>
      </p:sp>
      <p:sp>
        <p:nvSpPr>
          <p:cNvPr id="4" name="Text 2"/>
          <p:cNvSpPr/>
          <p:nvPr/>
        </p:nvSpPr>
        <p:spPr>
          <a:xfrm>
            <a:off x="11658600" y="6537960"/>
            <a:ext cx="365760" cy="274320"/>
          </a:xfrm>
          <a:prstGeom prst="rect">
            <a:avLst/>
          </a:prstGeom>
          <a:noFill/>
          <a:ln/>
        </p:spPr>
        <p:txBody>
          <a:bodyPr wrap="square" rtlCol="0" anchor="ctr"/>
          <a:lstStyle/>
          <a:p>
            <a:pPr marL="0" indent="0" algn="r">
              <a:buNone/>
            </a:pPr>
            <a:r>
              <a:rPr lang="en-US" sz="1000" dirty="0">
                <a:solidFill>
                  <a:srgbClr val="7F7F7F"/>
                </a:solidFill>
              </a:rPr>
              <a:t>4</a:t>
            </a:r>
            <a:endParaRPr lang="en-US" sz="1000" dirty="0"/>
          </a:p>
        </p:txBody>
      </p:sp>
      <p:sp>
        <p:nvSpPr>
          <p:cNvPr id="6" name="Text 4"/>
          <p:cNvSpPr/>
          <p:nvPr/>
        </p:nvSpPr>
        <p:spPr>
          <a:xfrm>
            <a:off x="457200" y="1371600"/>
            <a:ext cx="7315200" cy="365760"/>
          </a:xfrm>
          <a:prstGeom prst="rect">
            <a:avLst/>
          </a:prstGeom>
          <a:noFill/>
          <a:ln/>
        </p:spPr>
        <p:txBody>
          <a:bodyPr wrap="square" rtlCol="0" anchor="ctr"/>
          <a:lstStyle/>
          <a:p>
            <a:pPr marL="0" indent="0">
              <a:buNone/>
            </a:pPr>
            <a:r>
              <a:rPr lang="en-US" sz="1500" b="1" dirty="0">
                <a:solidFill>
                  <a:srgbClr val="1F3864"/>
                </a:solidFill>
              </a:rPr>
              <a:t>Same discount level, very different outcome</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920240"/>
          <a:ext cx="5943600" cy="1371600"/>
        </p:xfrm>
        <a:graphic>
          <a:graphicData uri="http://schemas.openxmlformats.org/drawingml/2006/table">
            <a:tbl>
              <a:tblPr/>
              <a:tblGrid>
                <a:gridCol w="1981200">
                  <a:extLst>
                    <a:ext uri="{9D8B030D-6E8A-4147-A177-3AD203B41FA5}">
                      <a16:colId xmlns:a16="http://schemas.microsoft.com/office/drawing/2014/main" val="20000"/>
                    </a:ext>
                  </a:extLst>
                </a:gridCol>
                <a:gridCol w="1981200">
                  <a:extLst>
                    <a:ext uri="{9D8B030D-6E8A-4147-A177-3AD203B41FA5}">
                      <a16:colId xmlns:a16="http://schemas.microsoft.com/office/drawing/2014/main" val="20001"/>
                    </a:ext>
                  </a:extLst>
                </a:gridCol>
                <a:gridCol w="1981200">
                  <a:extLst>
                    <a:ext uri="{9D8B030D-6E8A-4147-A177-3AD203B41FA5}">
                      <a16:colId xmlns:a16="http://schemas.microsoft.com/office/drawing/2014/main" val="20002"/>
                    </a:ext>
                  </a:extLst>
                </a:gridCol>
              </a:tblGrid>
              <a:tr h="457200">
                <a:tc>
                  <a:txBody>
                    <a:bodyPr/>
                    <a:lstStyle/>
                    <a:p>
                      <a:pPr marL="0" indent="0" algn="ctr">
                        <a:buNone/>
                      </a:pPr>
                      <a:r>
                        <a:rPr lang="en-US" sz="1300" b="1" dirty="0">
                          <a:solidFill>
                            <a:srgbClr val="FFFFFF"/>
                          </a:solidFill>
                        </a:rPr>
                        <a:t>Sub-Category</a:t>
                      </a:r>
                      <a:endParaRPr lang="en-US" sz="13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1300" b="1" dirty="0">
                          <a:solidFill>
                            <a:srgbClr val="FFFFFF"/>
                          </a:solidFill>
                        </a:rPr>
                        <a:t>Avg. Discount</a:t>
                      </a:r>
                      <a:endParaRPr lang="en-US" sz="13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marL="0" indent="0" algn="ctr">
                        <a:buNone/>
                      </a:pPr>
                      <a:r>
                        <a:rPr lang="en-US" sz="1300" b="1" dirty="0">
                          <a:solidFill>
                            <a:srgbClr val="FFFFFF"/>
                          </a:solidFill>
                        </a:rPr>
                        <a:t>Profit Margin</a:t>
                      </a:r>
                      <a:endParaRPr lang="en-US" sz="13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extLst>
                  <a:ext uri="{0D108BD9-81ED-4DB2-BD59-A6C34878D82A}">
                    <a16:rowId xmlns:a16="http://schemas.microsoft.com/office/drawing/2014/main" val="10000"/>
                  </a:ext>
                </a:extLst>
              </a:tr>
              <a:tr h="457200">
                <a:tc>
                  <a:txBody>
                    <a:bodyPr/>
                    <a:lstStyle/>
                    <a:p>
                      <a:pPr marL="0" indent="0" algn="ctr">
                        <a:buNone/>
                      </a:pPr>
                      <a:r>
                        <a:rPr lang="en-US" sz="1300" dirty="0">
                          <a:solidFill>
                            <a:srgbClr val="000000"/>
                          </a:solidFill>
                        </a:rPr>
                        <a:t>Binders</a:t>
                      </a:r>
                      <a:endParaRPr lang="en-US" sz="13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ctr">
                        <a:buNone/>
                      </a:pPr>
                      <a:r>
                        <a:rPr lang="en-US" sz="1300" dirty="0">
                          <a:solidFill>
                            <a:srgbClr val="000000"/>
                          </a:solidFill>
                        </a:rPr>
                        <a:t>37.2%</a:t>
                      </a:r>
                      <a:endParaRPr lang="en-US" sz="13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ctr">
                        <a:buNone/>
                      </a:pPr>
                      <a:r>
                        <a:rPr lang="en-US" sz="1300" b="1" dirty="0">
                          <a:solidFill>
                            <a:srgbClr val="6B8E63"/>
                          </a:solidFill>
                        </a:rPr>
                        <a:t>+14.9%</a:t>
                      </a:r>
                      <a:endParaRPr lang="en-US" sz="13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ctr">
                        <a:buNone/>
                      </a:pPr>
                      <a:r>
                        <a:rPr lang="en-US" sz="1300" dirty="0">
                          <a:solidFill>
                            <a:srgbClr val="000000"/>
                          </a:solidFill>
                        </a:rPr>
                        <a:t>Tables</a:t>
                      </a:r>
                      <a:endParaRPr lang="en-US" sz="13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ctr">
                        <a:buNone/>
                      </a:pPr>
                      <a:r>
                        <a:rPr lang="en-US" sz="1300" dirty="0">
                          <a:solidFill>
                            <a:srgbClr val="000000"/>
                          </a:solidFill>
                        </a:rPr>
                        <a:t>26.1%</a:t>
                      </a:r>
                      <a:endParaRPr lang="en-US" sz="13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ctr">
                        <a:buNone/>
                      </a:pPr>
                      <a:r>
                        <a:rPr lang="en-US" sz="1300" b="1" dirty="0">
                          <a:solidFill>
                            <a:srgbClr val="C0504D"/>
                          </a:solidFill>
                        </a:rPr>
                        <a:t>-8.6%</a:t>
                      </a:r>
                      <a:endParaRPr lang="en-US" sz="1300" dirty="0"/>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8" name="Text 5"/>
          <p:cNvSpPr/>
          <p:nvPr/>
        </p:nvSpPr>
        <p:spPr>
          <a:xfrm>
            <a:off x="457200" y="3657600"/>
            <a:ext cx="10515600" cy="2286000"/>
          </a:xfrm>
          <a:prstGeom prst="rect">
            <a:avLst/>
          </a:prstGeom>
          <a:noFill/>
          <a:ln/>
        </p:spPr>
        <p:txBody>
          <a:bodyPr wrap="square" rtlCol="0" anchor="t"/>
          <a:lstStyle/>
          <a:p>
            <a:pPr marL="0" indent="0">
              <a:lnSpc>
                <a:spcPct val="125000"/>
              </a:lnSpc>
              <a:buNone/>
            </a:pPr>
            <a:r>
              <a:rPr lang="en-US" sz="1300" dirty="0">
                <a:latin typeface="Calibri" pitchFamily="34" charset="0"/>
                <a:ea typeface="Calibri" pitchFamily="34" charset="-122"/>
                <a:cs typeface="Calibri" pitchFamily="34" charset="-120"/>
              </a:rPr>
              <a:t>Binders is discounted more heavily than Tables (37.2% vs 26.1% average) but stays comfortably profitable, while Tables loses money. </a:t>
            </a:r>
            <a:endParaRPr lang="en-US" sz="1300" dirty="0"/>
          </a:p>
          <a:p>
            <a:pPr marL="0" indent="0">
              <a:lnSpc>
                <a:spcPct val="125000"/>
              </a:lnSpc>
              <a:buNone/>
            </a:pPr>
            <a:endParaRPr lang="en-US" sz="1300" dirty="0"/>
          </a:p>
          <a:p>
            <a:pPr marL="0" indent="0">
              <a:lnSpc>
                <a:spcPct val="125000"/>
              </a:lnSpc>
              <a:buNone/>
            </a:pPr>
            <a:r>
              <a:rPr lang="en-US" sz="1300" dirty="0">
                <a:latin typeface="Calibri" pitchFamily="34" charset="0"/>
                <a:ea typeface="Calibri" pitchFamily="34" charset="-122"/>
                <a:cs typeface="Calibri" pitchFamily="34" charset="-120"/>
              </a:rPr>
              <a:t>Discount is the strongest single driver of profitability in this dataset, but it isn't acting alone here, something specific to Tables and Bookcases (most likely product cost or markup, which isn't available in this data) compounds the effect.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320040"/>
            <a:ext cx="11247120" cy="822960"/>
          </a:xfrm>
          <a:prstGeom prst="rect">
            <a:avLst/>
          </a:prstGeom>
          <a:noFill/>
          <a:ln/>
        </p:spPr>
        <p:txBody>
          <a:bodyPr wrap="square" rtlCol="0" anchor="t"/>
          <a:lstStyle/>
          <a:p>
            <a:pPr marL="0" indent="0">
              <a:buNone/>
            </a:pPr>
            <a:r>
              <a:rPr lang="en-US" sz="2200" b="1" dirty="0">
                <a:solidFill>
                  <a:srgbClr val="1F3864"/>
                </a:solidFill>
                <a:latin typeface="Calibri" pitchFamily="34" charset="0"/>
                <a:ea typeface="Calibri" pitchFamily="34" charset="-122"/>
                <a:cs typeface="Calibri" pitchFamily="34" charset="-120"/>
              </a:rPr>
              <a:t>Central region converts sales to profit less efficiently than its peers</a:t>
            </a:r>
            <a:endParaRPr lang="en-US" sz="2200" dirty="0"/>
          </a:p>
        </p:txBody>
      </p:sp>
      <p:sp>
        <p:nvSpPr>
          <p:cNvPr id="3" name="Shape 1"/>
          <p:cNvSpPr/>
          <p:nvPr/>
        </p:nvSpPr>
        <p:spPr>
          <a:xfrm>
            <a:off x="457200" y="1051560"/>
            <a:ext cx="11247120" cy="0"/>
          </a:xfrm>
          <a:prstGeom prst="line">
            <a:avLst/>
          </a:prstGeom>
          <a:noFill/>
          <a:ln w="25400">
            <a:solidFill>
              <a:srgbClr val="4472C4"/>
            </a:solidFill>
            <a:prstDash val="solid"/>
          </a:ln>
        </p:spPr>
        <p:txBody>
          <a:bodyPr/>
          <a:lstStyle/>
          <a:p>
            <a:endParaRPr lang="en-GB"/>
          </a:p>
        </p:txBody>
      </p:sp>
      <p:sp>
        <p:nvSpPr>
          <p:cNvPr id="4" name="Text 2"/>
          <p:cNvSpPr/>
          <p:nvPr/>
        </p:nvSpPr>
        <p:spPr>
          <a:xfrm>
            <a:off x="11658600" y="6537960"/>
            <a:ext cx="365760" cy="274320"/>
          </a:xfrm>
          <a:prstGeom prst="rect">
            <a:avLst/>
          </a:prstGeom>
          <a:noFill/>
          <a:ln/>
        </p:spPr>
        <p:txBody>
          <a:bodyPr wrap="square" rtlCol="0" anchor="ctr"/>
          <a:lstStyle/>
          <a:p>
            <a:pPr marL="0" indent="0" algn="r">
              <a:buNone/>
            </a:pPr>
            <a:r>
              <a:rPr lang="en-US" sz="1000" dirty="0">
                <a:solidFill>
                  <a:srgbClr val="7F7F7F"/>
                </a:solidFill>
              </a:rPr>
              <a:t>5</a:t>
            </a:r>
            <a:endParaRPr lang="en-US" sz="1000" dirty="0"/>
          </a:p>
        </p:txBody>
      </p:sp>
      <p:graphicFrame>
        <p:nvGraphicFramePr>
          <p:cNvPr id="6" name="Chart 0"/>
          <p:cNvGraphicFramePr/>
          <p:nvPr>
            <p:extLst>
              <p:ext uri="{D42A27DB-BD31-4B8C-83A1-F6EECF244321}">
                <p14:modId xmlns:p14="http://schemas.microsoft.com/office/powerpoint/2010/main" val="1679594181"/>
              </p:ext>
            </p:extLst>
          </p:nvPr>
        </p:nvGraphicFramePr>
        <p:xfrm>
          <a:off x="457200" y="1371600"/>
          <a:ext cx="694944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7635240" y="1554480"/>
            <a:ext cx="4069080" cy="2743200"/>
          </a:xfrm>
          <a:prstGeom prst="rect">
            <a:avLst/>
          </a:prstGeom>
          <a:noFill/>
          <a:ln/>
        </p:spPr>
        <p:txBody>
          <a:bodyPr wrap="square" rtlCol="0" anchor="t"/>
          <a:lstStyle/>
          <a:p>
            <a:pPr marL="0" indent="0">
              <a:lnSpc>
                <a:spcPct val="120000"/>
              </a:lnSpc>
              <a:buNone/>
            </a:pPr>
            <a:r>
              <a:rPr lang="en-US" sz="1300" dirty="0">
                <a:latin typeface="Calibri" pitchFamily="34" charset="0"/>
                <a:ea typeface="Calibri" pitchFamily="34" charset="-122"/>
                <a:cs typeface="Calibri" pitchFamily="34" charset="-120"/>
              </a:rPr>
              <a:t>Central's margin (7.9%) is roughly half of West's (14.9%), despite similar sales volume to East.</a:t>
            </a:r>
            <a:r>
              <a:rPr lang="en-US" sz="1300" dirty="0">
                <a:solidFill>
                  <a:srgbClr val="7F7F7F"/>
                </a:solidFill>
                <a:latin typeface="Calibri" pitchFamily="34" charset="0"/>
                <a:ea typeface="Calibri" pitchFamily="34" charset="-122"/>
                <a:cs typeface="Calibri" pitchFamily="34" charset="-120"/>
              </a:rPr>
              <a:t>
</a:t>
            </a:r>
            <a:r>
              <a:rPr lang="en-US" sz="1300" b="1" dirty="0">
                <a:solidFill>
                  <a:srgbClr val="1F3864"/>
                </a:solidFill>
                <a:latin typeface="Calibri" pitchFamily="34" charset="0"/>
                <a:ea typeface="Calibri" pitchFamily="34" charset="-122"/>
                <a:cs typeface="Calibri" pitchFamily="34" charset="-120"/>
              </a:rPr>
              <a:t>If Central matched West's margin on its existing sales, that's close to double its current profit, without needing any additional sales.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320040"/>
            <a:ext cx="11247120" cy="822960"/>
          </a:xfrm>
          <a:prstGeom prst="rect">
            <a:avLst/>
          </a:prstGeom>
          <a:noFill/>
          <a:ln/>
        </p:spPr>
        <p:txBody>
          <a:bodyPr wrap="square" rtlCol="0" anchor="t"/>
          <a:lstStyle/>
          <a:p>
            <a:pPr marL="0" indent="0">
              <a:buNone/>
            </a:pPr>
            <a:r>
              <a:rPr lang="en-US" sz="2200" b="1" dirty="0">
                <a:solidFill>
                  <a:srgbClr val="1F3864"/>
                </a:solidFill>
                <a:latin typeface="Calibri" pitchFamily="34" charset="0"/>
                <a:ea typeface="Calibri" pitchFamily="34" charset="-122"/>
                <a:cs typeface="Calibri" pitchFamily="34" charset="-120"/>
              </a:rPr>
              <a:t>A predictive model flags likely loss-making orders before they happen</a:t>
            </a:r>
            <a:endParaRPr lang="en-US" sz="2200" dirty="0"/>
          </a:p>
        </p:txBody>
      </p:sp>
      <p:sp>
        <p:nvSpPr>
          <p:cNvPr id="3" name="Shape 1"/>
          <p:cNvSpPr/>
          <p:nvPr/>
        </p:nvSpPr>
        <p:spPr>
          <a:xfrm>
            <a:off x="457200" y="1051560"/>
            <a:ext cx="11247120" cy="0"/>
          </a:xfrm>
          <a:prstGeom prst="line">
            <a:avLst/>
          </a:prstGeom>
          <a:noFill/>
          <a:ln w="25400">
            <a:solidFill>
              <a:srgbClr val="4472C4"/>
            </a:solidFill>
            <a:prstDash val="solid"/>
          </a:ln>
        </p:spPr>
        <p:txBody>
          <a:bodyPr/>
          <a:lstStyle/>
          <a:p>
            <a:endParaRPr lang="en-GB"/>
          </a:p>
        </p:txBody>
      </p:sp>
      <p:sp>
        <p:nvSpPr>
          <p:cNvPr id="4" name="Text 2"/>
          <p:cNvSpPr/>
          <p:nvPr/>
        </p:nvSpPr>
        <p:spPr>
          <a:xfrm>
            <a:off x="11658600" y="6537960"/>
            <a:ext cx="365760" cy="274320"/>
          </a:xfrm>
          <a:prstGeom prst="rect">
            <a:avLst/>
          </a:prstGeom>
          <a:noFill/>
          <a:ln/>
        </p:spPr>
        <p:txBody>
          <a:bodyPr wrap="square" rtlCol="0" anchor="ctr"/>
          <a:lstStyle/>
          <a:p>
            <a:pPr marL="0" indent="0" algn="r">
              <a:buNone/>
            </a:pPr>
            <a:r>
              <a:rPr lang="en-US" sz="1000" dirty="0">
                <a:solidFill>
                  <a:srgbClr val="7F7F7F"/>
                </a:solidFill>
              </a:rPr>
              <a:t>6</a:t>
            </a:r>
            <a:endParaRPr lang="en-US" sz="1000" dirty="0"/>
          </a:p>
        </p:txBody>
      </p:sp>
      <p:sp>
        <p:nvSpPr>
          <p:cNvPr id="7" name="Text 5"/>
          <p:cNvSpPr/>
          <p:nvPr/>
        </p:nvSpPr>
        <p:spPr>
          <a:xfrm>
            <a:off x="457200" y="1508760"/>
            <a:ext cx="3566160" cy="731520"/>
          </a:xfrm>
          <a:prstGeom prst="rect">
            <a:avLst/>
          </a:prstGeom>
          <a:noFill/>
          <a:ln/>
        </p:spPr>
        <p:txBody>
          <a:bodyPr wrap="square" rtlCol="0" anchor="ctr"/>
          <a:lstStyle/>
          <a:p>
            <a:pPr marL="0" indent="0" algn="ctr">
              <a:buNone/>
            </a:pPr>
            <a:r>
              <a:rPr lang="en-US" sz="3200" b="1" dirty="0">
                <a:solidFill>
                  <a:srgbClr val="1F3864"/>
                </a:solidFill>
              </a:rPr>
              <a:t>91%</a:t>
            </a:r>
            <a:endParaRPr lang="en-US" sz="3200" dirty="0"/>
          </a:p>
        </p:txBody>
      </p:sp>
      <p:sp>
        <p:nvSpPr>
          <p:cNvPr id="8" name="Text 6"/>
          <p:cNvSpPr/>
          <p:nvPr/>
        </p:nvSpPr>
        <p:spPr>
          <a:xfrm>
            <a:off x="457200" y="2240280"/>
            <a:ext cx="3566160" cy="320040"/>
          </a:xfrm>
          <a:prstGeom prst="rect">
            <a:avLst/>
          </a:prstGeom>
          <a:noFill/>
          <a:ln/>
        </p:spPr>
        <p:txBody>
          <a:bodyPr wrap="square" rtlCol="0" anchor="ctr"/>
          <a:lstStyle/>
          <a:p>
            <a:pPr marL="0" indent="0" algn="ctr">
              <a:buNone/>
            </a:pPr>
            <a:r>
              <a:rPr lang="en-US" sz="1300" b="1" dirty="0">
                <a:solidFill>
                  <a:srgbClr val="4472C4"/>
                </a:solidFill>
              </a:rPr>
              <a:t>Precision</a:t>
            </a:r>
            <a:endParaRPr lang="en-US" sz="1300" dirty="0"/>
          </a:p>
        </p:txBody>
      </p:sp>
      <p:sp>
        <p:nvSpPr>
          <p:cNvPr id="9" name="Text 7"/>
          <p:cNvSpPr/>
          <p:nvPr/>
        </p:nvSpPr>
        <p:spPr>
          <a:xfrm>
            <a:off x="640080" y="2606040"/>
            <a:ext cx="3200400" cy="548640"/>
          </a:xfrm>
          <a:prstGeom prst="rect">
            <a:avLst/>
          </a:prstGeom>
          <a:noFill/>
          <a:ln/>
        </p:spPr>
        <p:txBody>
          <a:bodyPr wrap="square" rtlCol="0" anchor="ctr"/>
          <a:lstStyle/>
          <a:p>
            <a:pPr marL="0" indent="0" algn="ctr">
              <a:buNone/>
            </a:pPr>
            <a:r>
              <a:rPr lang="en-US" sz="1000" dirty="0"/>
              <a:t>of orders flagged as loss-making genuinely are</a:t>
            </a:r>
          </a:p>
        </p:txBody>
      </p:sp>
      <p:sp>
        <p:nvSpPr>
          <p:cNvPr id="11" name="Text 9"/>
          <p:cNvSpPr/>
          <p:nvPr/>
        </p:nvSpPr>
        <p:spPr>
          <a:xfrm>
            <a:off x="4251960" y="1508760"/>
            <a:ext cx="3566160" cy="731520"/>
          </a:xfrm>
          <a:prstGeom prst="rect">
            <a:avLst/>
          </a:prstGeom>
          <a:noFill/>
          <a:ln/>
        </p:spPr>
        <p:txBody>
          <a:bodyPr wrap="square" rtlCol="0" anchor="ctr"/>
          <a:lstStyle/>
          <a:p>
            <a:pPr marL="0" indent="0" algn="ctr">
              <a:buNone/>
            </a:pPr>
            <a:r>
              <a:rPr lang="en-US" sz="3200" b="1" dirty="0">
                <a:solidFill>
                  <a:srgbClr val="1F3864"/>
                </a:solidFill>
              </a:rPr>
              <a:t>77%</a:t>
            </a:r>
            <a:endParaRPr lang="en-US" sz="3200" dirty="0"/>
          </a:p>
        </p:txBody>
      </p:sp>
      <p:sp>
        <p:nvSpPr>
          <p:cNvPr id="12" name="Text 10"/>
          <p:cNvSpPr/>
          <p:nvPr/>
        </p:nvSpPr>
        <p:spPr>
          <a:xfrm>
            <a:off x="4251960" y="2240280"/>
            <a:ext cx="3566160" cy="320040"/>
          </a:xfrm>
          <a:prstGeom prst="rect">
            <a:avLst/>
          </a:prstGeom>
          <a:noFill/>
          <a:ln/>
        </p:spPr>
        <p:txBody>
          <a:bodyPr wrap="square" rtlCol="0" anchor="ctr"/>
          <a:lstStyle/>
          <a:p>
            <a:pPr marL="0" indent="0" algn="ctr">
              <a:buNone/>
            </a:pPr>
            <a:r>
              <a:rPr lang="en-US" sz="1300" b="1" dirty="0">
                <a:solidFill>
                  <a:srgbClr val="4472C4"/>
                </a:solidFill>
              </a:rPr>
              <a:t>Recall</a:t>
            </a:r>
            <a:endParaRPr lang="en-US" sz="1300" dirty="0"/>
          </a:p>
        </p:txBody>
      </p:sp>
      <p:sp>
        <p:nvSpPr>
          <p:cNvPr id="13" name="Text 11"/>
          <p:cNvSpPr/>
          <p:nvPr/>
        </p:nvSpPr>
        <p:spPr>
          <a:xfrm>
            <a:off x="4434840" y="2606040"/>
            <a:ext cx="3200400" cy="548640"/>
          </a:xfrm>
          <a:prstGeom prst="rect">
            <a:avLst/>
          </a:prstGeom>
          <a:noFill/>
          <a:ln/>
        </p:spPr>
        <p:txBody>
          <a:bodyPr wrap="square" rtlCol="0" anchor="ctr"/>
          <a:lstStyle/>
          <a:p>
            <a:pPr marL="0" indent="0" algn="ctr">
              <a:buNone/>
            </a:pPr>
            <a:r>
              <a:rPr lang="en-US" sz="1000" dirty="0"/>
              <a:t>of true loss-making orders are correctly caught</a:t>
            </a:r>
          </a:p>
        </p:txBody>
      </p:sp>
      <p:sp>
        <p:nvSpPr>
          <p:cNvPr id="15" name="Text 13"/>
          <p:cNvSpPr/>
          <p:nvPr/>
        </p:nvSpPr>
        <p:spPr>
          <a:xfrm>
            <a:off x="8046720" y="1508760"/>
            <a:ext cx="3566160" cy="731520"/>
          </a:xfrm>
          <a:prstGeom prst="rect">
            <a:avLst/>
          </a:prstGeom>
          <a:noFill/>
          <a:ln/>
        </p:spPr>
        <p:txBody>
          <a:bodyPr wrap="square" rtlCol="0" anchor="ctr"/>
          <a:lstStyle/>
          <a:p>
            <a:pPr marL="0" indent="0" algn="ctr">
              <a:buNone/>
            </a:pPr>
            <a:r>
              <a:rPr lang="en-US" sz="3200" b="1" dirty="0">
                <a:solidFill>
                  <a:srgbClr val="1F3864"/>
                </a:solidFill>
              </a:rPr>
              <a:t>Discount</a:t>
            </a:r>
            <a:endParaRPr lang="en-US" sz="3200" dirty="0"/>
          </a:p>
        </p:txBody>
      </p:sp>
      <p:sp>
        <p:nvSpPr>
          <p:cNvPr id="16" name="Text 14"/>
          <p:cNvSpPr/>
          <p:nvPr/>
        </p:nvSpPr>
        <p:spPr>
          <a:xfrm>
            <a:off x="8046720" y="2240280"/>
            <a:ext cx="3566160" cy="320040"/>
          </a:xfrm>
          <a:prstGeom prst="rect">
            <a:avLst/>
          </a:prstGeom>
          <a:noFill/>
          <a:ln/>
        </p:spPr>
        <p:txBody>
          <a:bodyPr wrap="square" rtlCol="0" anchor="ctr"/>
          <a:lstStyle/>
          <a:p>
            <a:pPr marL="0" indent="0" algn="ctr">
              <a:buNone/>
            </a:pPr>
            <a:r>
              <a:rPr lang="en-US" sz="1300" b="1" dirty="0">
                <a:solidFill>
                  <a:srgbClr val="4472C4"/>
                </a:solidFill>
              </a:rPr>
              <a:t>Top Driver</a:t>
            </a:r>
            <a:endParaRPr lang="en-US" sz="1300" dirty="0"/>
          </a:p>
        </p:txBody>
      </p:sp>
      <p:sp>
        <p:nvSpPr>
          <p:cNvPr id="17" name="Text 15"/>
          <p:cNvSpPr/>
          <p:nvPr/>
        </p:nvSpPr>
        <p:spPr>
          <a:xfrm>
            <a:off x="8229600" y="2606040"/>
            <a:ext cx="3200400" cy="548640"/>
          </a:xfrm>
          <a:prstGeom prst="rect">
            <a:avLst/>
          </a:prstGeom>
          <a:noFill/>
          <a:ln/>
        </p:spPr>
        <p:txBody>
          <a:bodyPr wrap="square" rtlCol="0" anchor="ctr"/>
          <a:lstStyle/>
          <a:p>
            <a:pPr marL="0" indent="0" algn="ctr">
              <a:buNone/>
            </a:pPr>
            <a:r>
              <a:rPr lang="en-US" sz="1000" dirty="0"/>
              <a:t>accounts for over 80% of the model's predictions</a:t>
            </a:r>
          </a:p>
        </p:txBody>
      </p:sp>
      <p:sp>
        <p:nvSpPr>
          <p:cNvPr id="18" name="Text 16"/>
          <p:cNvSpPr/>
          <p:nvPr/>
        </p:nvSpPr>
        <p:spPr>
          <a:xfrm>
            <a:off x="457200" y="3749040"/>
            <a:ext cx="10972800" cy="2286000"/>
          </a:xfrm>
          <a:prstGeom prst="rect">
            <a:avLst/>
          </a:prstGeom>
          <a:noFill/>
          <a:ln/>
        </p:spPr>
        <p:txBody>
          <a:bodyPr wrap="square" rtlCol="0" anchor="t"/>
          <a:lstStyle/>
          <a:p>
            <a:pPr marL="0" indent="0">
              <a:lnSpc>
                <a:spcPct val="125000"/>
              </a:lnSpc>
              <a:buNone/>
            </a:pPr>
            <a:r>
              <a:rPr lang="en-US" sz="1300" dirty="0">
                <a:latin typeface="Calibri" pitchFamily="34" charset="0"/>
                <a:ea typeface="Calibri" pitchFamily="34" charset="-122"/>
                <a:cs typeface="Calibri" pitchFamily="34" charset="-120"/>
              </a:rPr>
              <a:t>The model predicts whether a proposed order will be profitable using sales value, discount, quantity, product type, region and segment, none of which require the order to have already happened.</a:t>
            </a:r>
            <a:r>
              <a:rPr lang="en-US" sz="1300" dirty="0">
                <a:solidFill>
                  <a:srgbClr val="7F7F7F"/>
                </a:solidFill>
                <a:latin typeface="Calibri" pitchFamily="34" charset="0"/>
                <a:ea typeface="Calibri" pitchFamily="34" charset="-122"/>
                <a:cs typeface="Calibri" pitchFamily="34" charset="-120"/>
              </a:rPr>
              <a:t>
</a:t>
            </a:r>
            <a:r>
              <a:rPr lang="en-US" sz="1300" b="1" dirty="0">
                <a:solidFill>
                  <a:srgbClr val="1F3864"/>
                </a:solidFill>
                <a:latin typeface="Calibri" pitchFamily="34" charset="0"/>
                <a:ea typeface="Calibri" pitchFamily="34" charset="-122"/>
                <a:cs typeface="Calibri" pitchFamily="34" charset="-120"/>
              </a:rPr>
              <a:t>This means it can be run at the quoting stage, before a discount is confirmed, flagging likely loss-making combinations upfront rather than only discovering the problem after the sale.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320040"/>
            <a:ext cx="11247120" cy="822960"/>
          </a:xfrm>
          <a:prstGeom prst="rect">
            <a:avLst/>
          </a:prstGeom>
          <a:noFill/>
          <a:ln/>
        </p:spPr>
        <p:txBody>
          <a:bodyPr wrap="square" rtlCol="0" anchor="t"/>
          <a:lstStyle/>
          <a:p>
            <a:pPr marL="0" indent="0">
              <a:buNone/>
            </a:pPr>
            <a:r>
              <a:rPr lang="en-US" sz="2200" b="1" dirty="0">
                <a:solidFill>
                  <a:srgbClr val="1F3864"/>
                </a:solidFill>
                <a:latin typeface="Calibri" pitchFamily="34" charset="0"/>
                <a:ea typeface="Calibri" pitchFamily="34" charset="-122"/>
                <a:cs typeface="Calibri" pitchFamily="34" charset="-120"/>
              </a:rPr>
              <a:t>Recommendations</a:t>
            </a:r>
            <a:endParaRPr lang="en-US" sz="2200" dirty="0"/>
          </a:p>
        </p:txBody>
      </p:sp>
      <p:sp>
        <p:nvSpPr>
          <p:cNvPr id="3" name="Shape 1"/>
          <p:cNvSpPr/>
          <p:nvPr/>
        </p:nvSpPr>
        <p:spPr>
          <a:xfrm>
            <a:off x="457200" y="1051560"/>
            <a:ext cx="11247120" cy="0"/>
          </a:xfrm>
          <a:prstGeom prst="line">
            <a:avLst/>
          </a:prstGeom>
          <a:noFill/>
          <a:ln w="25400">
            <a:solidFill>
              <a:srgbClr val="4472C4"/>
            </a:solidFill>
            <a:prstDash val="solid"/>
          </a:ln>
        </p:spPr>
        <p:txBody>
          <a:bodyPr/>
          <a:lstStyle/>
          <a:p>
            <a:endParaRPr lang="en-GB"/>
          </a:p>
        </p:txBody>
      </p:sp>
      <p:sp>
        <p:nvSpPr>
          <p:cNvPr id="4" name="Text 2"/>
          <p:cNvSpPr/>
          <p:nvPr/>
        </p:nvSpPr>
        <p:spPr>
          <a:xfrm>
            <a:off x="11658600" y="6537960"/>
            <a:ext cx="365760" cy="274320"/>
          </a:xfrm>
          <a:prstGeom prst="rect">
            <a:avLst/>
          </a:prstGeom>
          <a:noFill/>
          <a:ln/>
        </p:spPr>
        <p:txBody>
          <a:bodyPr wrap="square" rtlCol="0" anchor="ctr"/>
          <a:lstStyle/>
          <a:p>
            <a:pPr marL="0" indent="0" algn="r">
              <a:buNone/>
            </a:pPr>
            <a:r>
              <a:rPr lang="en-US" sz="1000" dirty="0">
                <a:solidFill>
                  <a:srgbClr val="7F7F7F"/>
                </a:solidFill>
              </a:rPr>
              <a:t>7</a:t>
            </a:r>
            <a:endParaRPr lang="en-US" sz="1000" dirty="0"/>
          </a:p>
        </p:txBody>
      </p:sp>
      <p:sp>
        <p:nvSpPr>
          <p:cNvPr id="6" name="Shape 4"/>
          <p:cNvSpPr/>
          <p:nvPr/>
        </p:nvSpPr>
        <p:spPr>
          <a:xfrm>
            <a:off x="457200" y="1371600"/>
            <a:ext cx="2651760" cy="685800"/>
          </a:xfrm>
          <a:prstGeom prst="rect">
            <a:avLst/>
          </a:prstGeom>
          <a:solidFill>
            <a:srgbClr val="1F3864"/>
          </a:solidFill>
          <a:ln/>
        </p:spPr>
        <p:txBody>
          <a:bodyPr/>
          <a:lstStyle/>
          <a:p>
            <a:endParaRPr lang="en-GB"/>
          </a:p>
        </p:txBody>
      </p:sp>
      <p:sp>
        <p:nvSpPr>
          <p:cNvPr id="7" name="Text 5"/>
          <p:cNvSpPr/>
          <p:nvPr/>
        </p:nvSpPr>
        <p:spPr>
          <a:xfrm>
            <a:off x="457200" y="1371600"/>
            <a:ext cx="502920" cy="685800"/>
          </a:xfrm>
          <a:prstGeom prst="rect">
            <a:avLst/>
          </a:prstGeom>
          <a:noFill/>
          <a:ln/>
        </p:spPr>
        <p:txBody>
          <a:bodyPr wrap="square" rtlCol="0" anchor="ctr"/>
          <a:lstStyle/>
          <a:p>
            <a:pPr marL="0" indent="0" algn="ctr">
              <a:buNone/>
            </a:pPr>
            <a:r>
              <a:rPr lang="en-US" sz="1800" b="1" dirty="0">
                <a:solidFill>
                  <a:srgbClr val="FFFFFF"/>
                </a:solidFill>
              </a:rPr>
              <a:t>1</a:t>
            </a:r>
            <a:endParaRPr lang="en-US" sz="1800" dirty="0"/>
          </a:p>
        </p:txBody>
      </p:sp>
      <p:sp>
        <p:nvSpPr>
          <p:cNvPr id="8" name="Text 6"/>
          <p:cNvSpPr/>
          <p:nvPr/>
        </p:nvSpPr>
        <p:spPr>
          <a:xfrm>
            <a:off x="960120" y="1371600"/>
            <a:ext cx="2148840" cy="685800"/>
          </a:xfrm>
          <a:prstGeom prst="rect">
            <a:avLst/>
          </a:prstGeom>
          <a:noFill/>
          <a:ln/>
        </p:spPr>
        <p:txBody>
          <a:bodyPr wrap="square" rtlCol="0" anchor="ctr"/>
          <a:lstStyle/>
          <a:p>
            <a:pPr marL="0" indent="0">
              <a:buNone/>
            </a:pPr>
            <a:r>
              <a:rPr lang="en-US" sz="1150" b="1" dirty="0">
                <a:solidFill>
                  <a:srgbClr val="FFFFFF"/>
                </a:solidFill>
              </a:rPr>
              <a:t>Cap discount at 20%</a:t>
            </a:r>
            <a:endParaRPr lang="en-US" sz="1150" dirty="0"/>
          </a:p>
        </p:txBody>
      </p:sp>
      <p:sp>
        <p:nvSpPr>
          <p:cNvPr id="9" name="Text 7"/>
          <p:cNvSpPr/>
          <p:nvPr/>
        </p:nvSpPr>
        <p:spPr>
          <a:xfrm>
            <a:off x="457200" y="2240280"/>
            <a:ext cx="2651760" cy="3291840"/>
          </a:xfrm>
          <a:prstGeom prst="rect">
            <a:avLst/>
          </a:prstGeom>
          <a:noFill/>
          <a:ln/>
        </p:spPr>
        <p:txBody>
          <a:bodyPr wrap="square" rtlCol="0" anchor="t"/>
          <a:lstStyle/>
          <a:p>
            <a:pPr marL="0" indent="0">
              <a:lnSpc>
                <a:spcPct val="125000"/>
              </a:lnSpc>
              <a:buNone/>
            </a:pPr>
            <a:r>
              <a:rPr lang="en-US" sz="1100" dirty="0"/>
              <a:t>This is consistently the point where margin turns negative across the dataset. A formal approval threshold above this level would prevent most avoidable losses.</a:t>
            </a:r>
          </a:p>
        </p:txBody>
      </p:sp>
      <p:sp>
        <p:nvSpPr>
          <p:cNvPr id="10" name="Shape 8"/>
          <p:cNvSpPr/>
          <p:nvPr/>
        </p:nvSpPr>
        <p:spPr>
          <a:xfrm>
            <a:off x="3322320" y="1371600"/>
            <a:ext cx="2651760" cy="685800"/>
          </a:xfrm>
          <a:prstGeom prst="rect">
            <a:avLst/>
          </a:prstGeom>
          <a:solidFill>
            <a:srgbClr val="1F3864"/>
          </a:solidFill>
          <a:ln/>
        </p:spPr>
        <p:txBody>
          <a:bodyPr/>
          <a:lstStyle/>
          <a:p>
            <a:endParaRPr lang="en-GB"/>
          </a:p>
        </p:txBody>
      </p:sp>
      <p:sp>
        <p:nvSpPr>
          <p:cNvPr id="11" name="Text 9"/>
          <p:cNvSpPr/>
          <p:nvPr/>
        </p:nvSpPr>
        <p:spPr>
          <a:xfrm>
            <a:off x="3322320" y="1371600"/>
            <a:ext cx="502920" cy="685800"/>
          </a:xfrm>
          <a:prstGeom prst="rect">
            <a:avLst/>
          </a:prstGeom>
          <a:noFill/>
          <a:ln/>
        </p:spPr>
        <p:txBody>
          <a:bodyPr wrap="square" rtlCol="0" anchor="ctr"/>
          <a:lstStyle/>
          <a:p>
            <a:pPr marL="0" indent="0" algn="ctr">
              <a:buNone/>
            </a:pPr>
            <a:r>
              <a:rPr lang="en-US" sz="1800" b="1" dirty="0">
                <a:solidFill>
                  <a:srgbClr val="FFFFFF"/>
                </a:solidFill>
              </a:rPr>
              <a:t>2</a:t>
            </a:r>
            <a:endParaRPr lang="en-US" sz="1800" dirty="0"/>
          </a:p>
        </p:txBody>
      </p:sp>
      <p:sp>
        <p:nvSpPr>
          <p:cNvPr id="12" name="Text 10"/>
          <p:cNvSpPr/>
          <p:nvPr/>
        </p:nvSpPr>
        <p:spPr>
          <a:xfrm>
            <a:off x="3825240" y="1371600"/>
            <a:ext cx="2148840" cy="685800"/>
          </a:xfrm>
          <a:prstGeom prst="rect">
            <a:avLst/>
          </a:prstGeom>
          <a:noFill/>
          <a:ln/>
        </p:spPr>
        <p:txBody>
          <a:bodyPr wrap="square" rtlCol="0" anchor="ctr"/>
          <a:lstStyle/>
          <a:p>
            <a:pPr marL="0" indent="0">
              <a:buNone/>
            </a:pPr>
            <a:r>
              <a:rPr lang="en-US" sz="1150" b="1" dirty="0">
                <a:solidFill>
                  <a:srgbClr val="FFFFFF"/>
                </a:solidFill>
              </a:rPr>
              <a:t>Review Tables, Bookcases &amp; Supplies pricing</a:t>
            </a:r>
            <a:endParaRPr lang="en-US" sz="1150" dirty="0"/>
          </a:p>
        </p:txBody>
      </p:sp>
      <p:sp>
        <p:nvSpPr>
          <p:cNvPr id="13" name="Text 11"/>
          <p:cNvSpPr/>
          <p:nvPr/>
        </p:nvSpPr>
        <p:spPr>
          <a:xfrm>
            <a:off x="3322320" y="2240280"/>
            <a:ext cx="2651760" cy="3291840"/>
          </a:xfrm>
          <a:prstGeom prst="rect">
            <a:avLst/>
          </a:prstGeom>
          <a:noFill/>
          <a:ln/>
        </p:spPr>
        <p:txBody>
          <a:bodyPr wrap="square" rtlCol="0" anchor="t"/>
          <a:lstStyle/>
          <a:p>
            <a:pPr marL="0" indent="0">
              <a:lnSpc>
                <a:spcPct val="125000"/>
              </a:lnSpc>
              <a:buNone/>
            </a:pPr>
            <a:r>
              <a:rPr lang="en-US" sz="1100" dirty="0"/>
              <a:t>These are the only three sub-categories losing money outright. Confirm whether this is deliberate stock clearance or a genuine pricing problem.</a:t>
            </a:r>
          </a:p>
        </p:txBody>
      </p:sp>
      <p:sp>
        <p:nvSpPr>
          <p:cNvPr id="14" name="Shape 12"/>
          <p:cNvSpPr/>
          <p:nvPr/>
        </p:nvSpPr>
        <p:spPr>
          <a:xfrm>
            <a:off x="6187440" y="1371600"/>
            <a:ext cx="2651760" cy="685800"/>
          </a:xfrm>
          <a:prstGeom prst="rect">
            <a:avLst/>
          </a:prstGeom>
          <a:solidFill>
            <a:srgbClr val="1F3864"/>
          </a:solidFill>
          <a:ln/>
        </p:spPr>
        <p:txBody>
          <a:bodyPr/>
          <a:lstStyle/>
          <a:p>
            <a:endParaRPr lang="en-GB"/>
          </a:p>
        </p:txBody>
      </p:sp>
      <p:sp>
        <p:nvSpPr>
          <p:cNvPr id="15" name="Text 13"/>
          <p:cNvSpPr/>
          <p:nvPr/>
        </p:nvSpPr>
        <p:spPr>
          <a:xfrm>
            <a:off x="6187440" y="1371600"/>
            <a:ext cx="502920" cy="685800"/>
          </a:xfrm>
          <a:prstGeom prst="rect">
            <a:avLst/>
          </a:prstGeom>
          <a:noFill/>
          <a:ln/>
        </p:spPr>
        <p:txBody>
          <a:bodyPr wrap="square" rtlCol="0" anchor="ctr"/>
          <a:lstStyle/>
          <a:p>
            <a:pPr marL="0" indent="0" algn="ctr">
              <a:buNone/>
            </a:pPr>
            <a:r>
              <a:rPr lang="en-US" sz="1800" b="1" dirty="0">
                <a:solidFill>
                  <a:srgbClr val="FFFFFF"/>
                </a:solidFill>
              </a:rPr>
              <a:t>3</a:t>
            </a:r>
            <a:endParaRPr lang="en-US" sz="1800" dirty="0"/>
          </a:p>
        </p:txBody>
      </p:sp>
      <p:sp>
        <p:nvSpPr>
          <p:cNvPr id="16" name="Text 14"/>
          <p:cNvSpPr/>
          <p:nvPr/>
        </p:nvSpPr>
        <p:spPr>
          <a:xfrm>
            <a:off x="6690360" y="1371600"/>
            <a:ext cx="2148840" cy="685800"/>
          </a:xfrm>
          <a:prstGeom prst="rect">
            <a:avLst/>
          </a:prstGeom>
          <a:noFill/>
          <a:ln/>
        </p:spPr>
        <p:txBody>
          <a:bodyPr wrap="square" rtlCol="0" anchor="ctr"/>
          <a:lstStyle/>
          <a:p>
            <a:pPr marL="0" indent="0">
              <a:buNone/>
            </a:pPr>
            <a:r>
              <a:rPr lang="en-US" sz="1150" b="1" dirty="0">
                <a:solidFill>
                  <a:srgbClr val="FFFFFF"/>
                </a:solidFill>
              </a:rPr>
              <a:t>Investigate Central region's margin gap</a:t>
            </a:r>
            <a:endParaRPr lang="en-US" sz="1150" dirty="0"/>
          </a:p>
        </p:txBody>
      </p:sp>
      <p:sp>
        <p:nvSpPr>
          <p:cNvPr id="17" name="Text 15"/>
          <p:cNvSpPr/>
          <p:nvPr/>
        </p:nvSpPr>
        <p:spPr>
          <a:xfrm>
            <a:off x="6187440" y="2240280"/>
            <a:ext cx="2651760" cy="3291840"/>
          </a:xfrm>
          <a:prstGeom prst="rect">
            <a:avLst/>
          </a:prstGeom>
          <a:noFill/>
          <a:ln/>
        </p:spPr>
        <p:txBody>
          <a:bodyPr wrap="square" rtlCol="0" anchor="t"/>
          <a:lstStyle/>
          <a:p>
            <a:pPr marL="0" indent="0">
              <a:lnSpc>
                <a:spcPct val="125000"/>
              </a:lnSpc>
              <a:buNone/>
            </a:pPr>
            <a:r>
              <a:rPr lang="en-US" sz="1100" dirty="0"/>
              <a:t>Margin is roughly half of West's on similar sales. Check whether heavier regional discounting or product mix is driving the gap.</a:t>
            </a:r>
          </a:p>
        </p:txBody>
      </p:sp>
      <p:sp>
        <p:nvSpPr>
          <p:cNvPr id="18" name="Shape 16"/>
          <p:cNvSpPr/>
          <p:nvPr/>
        </p:nvSpPr>
        <p:spPr>
          <a:xfrm>
            <a:off x="9052560" y="1371600"/>
            <a:ext cx="2651760" cy="685800"/>
          </a:xfrm>
          <a:prstGeom prst="rect">
            <a:avLst/>
          </a:prstGeom>
          <a:solidFill>
            <a:srgbClr val="1F3864"/>
          </a:solidFill>
          <a:ln/>
        </p:spPr>
        <p:txBody>
          <a:bodyPr/>
          <a:lstStyle/>
          <a:p>
            <a:endParaRPr lang="en-GB"/>
          </a:p>
        </p:txBody>
      </p:sp>
      <p:sp>
        <p:nvSpPr>
          <p:cNvPr id="19" name="Text 17"/>
          <p:cNvSpPr/>
          <p:nvPr/>
        </p:nvSpPr>
        <p:spPr>
          <a:xfrm>
            <a:off x="9052560" y="1371600"/>
            <a:ext cx="502920" cy="685800"/>
          </a:xfrm>
          <a:prstGeom prst="rect">
            <a:avLst/>
          </a:prstGeom>
          <a:noFill/>
          <a:ln/>
        </p:spPr>
        <p:txBody>
          <a:bodyPr wrap="square" rtlCol="0" anchor="ctr"/>
          <a:lstStyle/>
          <a:p>
            <a:pPr marL="0" indent="0" algn="ctr">
              <a:buNone/>
            </a:pPr>
            <a:r>
              <a:rPr lang="en-US" sz="1800" b="1" dirty="0">
                <a:solidFill>
                  <a:srgbClr val="FFFFFF"/>
                </a:solidFill>
              </a:rPr>
              <a:t>4</a:t>
            </a:r>
            <a:endParaRPr lang="en-US" sz="1800" dirty="0"/>
          </a:p>
        </p:txBody>
      </p:sp>
      <p:sp>
        <p:nvSpPr>
          <p:cNvPr id="20" name="Text 18"/>
          <p:cNvSpPr/>
          <p:nvPr/>
        </p:nvSpPr>
        <p:spPr>
          <a:xfrm>
            <a:off x="9555480" y="1371600"/>
            <a:ext cx="2148840" cy="685800"/>
          </a:xfrm>
          <a:prstGeom prst="rect">
            <a:avLst/>
          </a:prstGeom>
          <a:noFill/>
          <a:ln/>
        </p:spPr>
        <p:txBody>
          <a:bodyPr wrap="square" rtlCol="0" anchor="ctr"/>
          <a:lstStyle/>
          <a:p>
            <a:pPr marL="0" indent="0">
              <a:buNone/>
            </a:pPr>
            <a:r>
              <a:rPr lang="en-US" sz="1150" b="1" dirty="0">
                <a:solidFill>
                  <a:srgbClr val="FFFFFF"/>
                </a:solidFill>
              </a:rPr>
              <a:t>Use the model on proposed orders</a:t>
            </a:r>
            <a:endParaRPr lang="en-US" sz="1150" dirty="0"/>
          </a:p>
        </p:txBody>
      </p:sp>
      <p:sp>
        <p:nvSpPr>
          <p:cNvPr id="21" name="Text 19"/>
          <p:cNvSpPr/>
          <p:nvPr/>
        </p:nvSpPr>
        <p:spPr>
          <a:xfrm>
            <a:off x="9052560" y="2240280"/>
            <a:ext cx="2651760" cy="3291840"/>
          </a:xfrm>
          <a:prstGeom prst="rect">
            <a:avLst/>
          </a:prstGeom>
          <a:noFill/>
          <a:ln/>
        </p:spPr>
        <p:txBody>
          <a:bodyPr wrap="square" rtlCol="0" anchor="t"/>
          <a:lstStyle/>
          <a:p>
            <a:pPr marL="0" indent="0">
              <a:lnSpc>
                <a:spcPct val="125000"/>
              </a:lnSpc>
              <a:buNone/>
            </a:pPr>
            <a:r>
              <a:rPr lang="en-US" sz="1100" dirty="0"/>
              <a:t>Since none of its inputs require the order to have already happened, run it at the quoting stage to flag likely loss-making orders before they're confirmed.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3108960"/>
            <a:ext cx="2926080" cy="0"/>
          </a:xfrm>
          <a:prstGeom prst="line">
            <a:avLst/>
          </a:prstGeom>
          <a:noFill/>
          <a:ln w="38100">
            <a:solidFill>
              <a:srgbClr val="4472C4"/>
            </a:solidFill>
            <a:prstDash val="solid"/>
          </a:ln>
        </p:spPr>
        <p:txBody>
          <a:bodyPr/>
          <a:lstStyle/>
          <a:p>
            <a:endParaRPr lang="en-GB"/>
          </a:p>
        </p:txBody>
      </p:sp>
      <p:sp>
        <p:nvSpPr>
          <p:cNvPr id="3" name="Text 1"/>
          <p:cNvSpPr/>
          <p:nvPr/>
        </p:nvSpPr>
        <p:spPr>
          <a:xfrm>
            <a:off x="548640" y="3291840"/>
            <a:ext cx="9144000" cy="731520"/>
          </a:xfrm>
          <a:prstGeom prst="rect">
            <a:avLst/>
          </a:prstGeom>
          <a:noFill/>
          <a:ln/>
        </p:spPr>
        <p:txBody>
          <a:bodyPr wrap="square" rtlCol="0" anchor="ctr"/>
          <a:lstStyle/>
          <a:p>
            <a:pPr marL="0" indent="0">
              <a:buNone/>
            </a:pPr>
            <a:r>
              <a:rPr lang="en-US" sz="3000" b="1" dirty="0">
                <a:solidFill>
                  <a:srgbClr val="1F3864"/>
                </a:solidFill>
              </a:rPr>
              <a:t>Thank you</a:t>
            </a:r>
            <a:endParaRPr lang="en-US" sz="3000" dirty="0"/>
          </a:p>
        </p:txBody>
      </p:sp>
      <p:sp>
        <p:nvSpPr>
          <p:cNvPr id="4" name="Text 2"/>
          <p:cNvSpPr/>
          <p:nvPr/>
        </p:nvSpPr>
        <p:spPr>
          <a:xfrm>
            <a:off x="548640" y="4023360"/>
            <a:ext cx="9144000" cy="457200"/>
          </a:xfrm>
          <a:prstGeom prst="rect">
            <a:avLst/>
          </a:prstGeom>
          <a:noFill/>
          <a:ln/>
        </p:spPr>
        <p:txBody>
          <a:bodyPr wrap="square" rtlCol="0" anchor="ctr"/>
          <a:lstStyle/>
          <a:p>
            <a:pPr marL="0" indent="0">
              <a:buNone/>
            </a:pPr>
            <a:r>
              <a:rPr lang="en-US" sz="1300" dirty="0"/>
              <a:t>Full SQL analysis, model build, and code available in the accompanying notebook.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614</Words>
  <Application>Microsoft Office PowerPoint</Application>
  <PresentationFormat>Widescreen</PresentationFormat>
  <Paragraphs>65</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Edwards, Oliver</cp:lastModifiedBy>
  <cp:revision>4</cp:revision>
  <dcterms:created xsi:type="dcterms:W3CDTF">2026-08-18T15:03:35Z</dcterms:created>
  <dcterms:modified xsi:type="dcterms:W3CDTF">2026-08-27T11:28:55Z</dcterms:modified>
</cp:coreProperties>
</file>